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368" r:id="rId4"/>
    <p:sldId id="369" r:id="rId5"/>
    <p:sldId id="370" r:id="rId6"/>
    <p:sldId id="379" r:id="rId7"/>
    <p:sldId id="372" r:id="rId8"/>
    <p:sldId id="373" r:id="rId9"/>
    <p:sldId id="374" r:id="rId10"/>
    <p:sldId id="376" r:id="rId11"/>
    <p:sldId id="375" r:id="rId12"/>
    <p:sldId id="377" r:id="rId13"/>
    <p:sldId id="378" r:id="rId14"/>
    <p:sldId id="3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://arxiv.org/abs/1911.09964" TargetMode="External"/><Relationship Id="rId3" Type="http://schemas.openxmlformats.org/officeDocument/2006/relationships/hyperlink" Target="http://paperpile.com/b/mpG1XU/lbgx" TargetMode="External"/><Relationship Id="rId7" Type="http://schemas.openxmlformats.org/officeDocument/2006/relationships/hyperlink" Target="http://paperpile.com/b/mpG1XU/qp6s" TargetMode="External"/><Relationship Id="rId2" Type="http://schemas.openxmlformats.org/officeDocument/2006/relationships/hyperlink" Target="http://paperpile.com/b/mpG1XU/aUn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apers.ssrn.com/abstract=4206054" TargetMode="External"/><Relationship Id="rId5" Type="http://schemas.openxmlformats.org/officeDocument/2006/relationships/hyperlink" Target="http://paperpile.com/b/mpG1XU/3l2T" TargetMode="External"/><Relationship Id="rId4" Type="http://schemas.openxmlformats.org/officeDocument/2006/relationships/hyperlink" Target="https://papers.ssrn.com/abstract=3780377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55FB75-EA23-05A2-65B0-3FBB7B85A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4" y="89477"/>
            <a:ext cx="2924175" cy="95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5478A0-E400-6B2F-4B52-61D3A263B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1491" y="64077"/>
            <a:ext cx="1000125" cy="1143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7030A0"/>
                </a:solidFill>
                <a:latin typeface="Verdana" panose="020B0604030504040204" pitchFamily="34" charset="0"/>
                <a:ea typeface="+mn-ea"/>
                <a:cs typeface="+mn-cs"/>
              </a:rPr>
              <a:t>E</a:t>
            </a:r>
            <a:r>
              <a:rPr lang="en-IN" sz="4000" b="1" dirty="0">
                <a:solidFill>
                  <a:srgbClr val="7030A0"/>
                </a:solidFill>
                <a:latin typeface="Verdana" panose="020B0604030504040204" pitchFamily="34" charset="0"/>
                <a:ea typeface="+mn-ea"/>
                <a:cs typeface="+mn-cs"/>
              </a:rPr>
              <a:t>BILL DIGITAL RECIEPT GENERATOR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00" y="4601500"/>
            <a:ext cx="4148373" cy="208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buNone/>
            </a:pPr>
            <a:r>
              <a:rPr lang="en-US" sz="2400" b="1" i="1" dirty="0" err="1">
                <a:solidFill>
                  <a:srgbClr val="FF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Mr.V.Karthik</a:t>
            </a:r>
            <a:r>
              <a:rPr lang="en-US" sz="2400" b="1" i="1" dirty="0">
                <a:solidFill>
                  <a:srgbClr val="FF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IN" sz="2400" b="1" dirty="0">
              <a:solidFill>
                <a:srgbClr val="FF0000"/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2400" b="1" i="1" dirty="0">
                <a:solidFill>
                  <a:srgbClr val="FF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2400" b="1" i="1" spc="-75" dirty="0">
                <a:solidFill>
                  <a:srgbClr val="FF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srgbClr val="FF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b="1" i="1" spc="-60" dirty="0">
                <a:solidFill>
                  <a:srgbClr val="FF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srgbClr val="FF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CSE</a:t>
            </a:r>
            <a:endParaRPr lang="en-IN" sz="2400" b="1" dirty="0">
              <a:solidFill>
                <a:srgbClr val="FF0000"/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2400" b="1" i="1" dirty="0">
                <a:solidFill>
                  <a:srgbClr val="FF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Rajalakshmi</a:t>
            </a:r>
            <a:r>
              <a:rPr lang="en-US" sz="2400" b="1" i="1" spc="-75" dirty="0">
                <a:solidFill>
                  <a:srgbClr val="FF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srgbClr val="FF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2400" b="1" i="1" spc="-60" dirty="0">
                <a:solidFill>
                  <a:srgbClr val="FF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srgbClr val="FF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College Chennai, India.</a:t>
            </a:r>
            <a:endParaRPr lang="en-IN" altLang="en-US" sz="24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8212" y="4749233"/>
            <a:ext cx="4833404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lang="en-IN" altLang="en-US" sz="2000" b="1" dirty="0">
                <a:solidFill>
                  <a:srgbClr val="FF0000"/>
                </a:solidFill>
              </a:rPr>
              <a:t>2116220701215 </a:t>
            </a:r>
            <a:br>
              <a:rPr lang="en-IN" altLang="en-US" sz="2000" b="1" dirty="0">
                <a:solidFill>
                  <a:srgbClr val="FF0000"/>
                </a:solidFill>
              </a:rPr>
            </a:br>
            <a:r>
              <a:rPr lang="en-IN" altLang="en-US" sz="2000" b="1" dirty="0">
                <a:solidFill>
                  <a:srgbClr val="FF0000"/>
                </a:solidFill>
              </a:rPr>
              <a:t>RAJAKUMARAN BHAVANISHRAJ</a:t>
            </a:r>
            <a:br>
              <a:rPr lang="en-IN" altLang="en-US" sz="2000" b="1" dirty="0">
                <a:solidFill>
                  <a:srgbClr val="FF0000"/>
                </a:solidFill>
              </a:rPr>
            </a:br>
            <a:r>
              <a:rPr lang="en-IN" altLang="en-US" sz="2000" b="1" dirty="0">
                <a:solidFill>
                  <a:srgbClr val="FF0000"/>
                </a:solidFill>
              </a:rPr>
              <a:t>2116220701217</a:t>
            </a:r>
            <a:br>
              <a:rPr lang="en-IN" altLang="en-US" sz="2000" b="1" dirty="0">
                <a:solidFill>
                  <a:srgbClr val="FF0000"/>
                </a:solidFill>
              </a:rPr>
            </a:br>
            <a:r>
              <a:rPr lang="en-IN" altLang="en-US" sz="2000" b="1" dirty="0">
                <a:solidFill>
                  <a:srgbClr val="FF0000"/>
                </a:solidFill>
              </a:rPr>
              <a:t>RAMYA P</a:t>
            </a:r>
            <a:br>
              <a:rPr lang="en-IN" altLang="en-US" sz="2000" b="1" dirty="0">
                <a:solidFill>
                  <a:srgbClr val="FF0000"/>
                </a:solidFill>
              </a:rPr>
            </a:br>
            <a:r>
              <a:rPr lang="en-IN" altLang="en-US" sz="2000" b="1" dirty="0">
                <a:solidFill>
                  <a:srgbClr val="FF0000"/>
                </a:solidFill>
              </a:rPr>
              <a:t>2116220701236</a:t>
            </a:r>
            <a:br>
              <a:rPr lang="en-IN" altLang="en-US" sz="2000" b="1" dirty="0">
                <a:solidFill>
                  <a:srgbClr val="FF0000"/>
                </a:solidFill>
              </a:rPr>
            </a:br>
            <a:r>
              <a:rPr lang="en-IN" altLang="en-US" sz="2000" b="1" dirty="0">
                <a:solidFill>
                  <a:srgbClr val="FF0000"/>
                </a:solidFill>
              </a:rPr>
              <a:t>SAFEEKUR RAHMAN A.Z.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08891" y="1213137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Problem Statement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Paper receipts contribute to deforestation and waste.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Issues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Hard to store, search, and retrieve physical receipts.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Paper receipts are easy to lose, damage, or forge.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Costs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Continuous expense on paper, ink, and maintenance.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Insights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No support for detailed analytics or financial reporting.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Existing System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After a purchase, a paper receipt is printed and handed to the customer.  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Customers often store receipts manually or capture them digitally for future reference.  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Financial tracking and analysis require manual data entry from receipts.  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 include:  </a:t>
            </a:r>
            <a:b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Loss or damage of physical receipts, Inefficient and time-consuming record-keeping, Environmental concerns due to paper consumption.</a:t>
            </a: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971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Objectives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Eliminate the use of paper receipts by providing secure digital alternatives.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Automate receipt generation and storage using a web-based MERN stack solution.  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Improve accessibility by enabling users to view and manage receipts anytime.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Enhance security through centralized, tamper-proof digital records.  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Enable financial insights with monthly and yearly reports and analytics.  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Promote sustainability by reducing paper usage and operational costs.</a:t>
            </a: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Abstract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MERN-based Digital Receipt Generator (DRG) system.  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Replaces paper receipts with secure and eco-friendly digital receipts.  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Enables automatic receipt generation and cloud storage.  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Solves issues like loss, manual entry, and environmental impact.  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Provides monthly/yearly reports and business data analytics.  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Aims to enhance efficiency, security, accessibility, and sustainability.</a:t>
            </a: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Proposed System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Secure login using JWT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data protection.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Data Capture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enter transaction details via the interface.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is securely stored in MongoDB with encryption.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Receipt Generation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Digital receipts are created in JSON/PDF formats.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Receipt Management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can search, view, and download receipts anytime.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&amp; Analytics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Generates monthly/yearly reports and financial visualizations.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894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System Architecture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51B615-63F9-7D5B-2533-489F2EBDA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777" y="1879552"/>
            <a:ext cx="8170445" cy="41967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List of Framework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and JavaScript.  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Backend: Node.js with Express.js.  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Database: MongoDB for data storage.  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Frameworks: React.js (frontend), Express.js (backend).  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Tools: VS Code, GitHub, and </a:t>
            </a:r>
            <a:r>
              <a:rPr kumimoji="0" lang="en-IN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for development and version control.</a:t>
            </a: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Functional Description for each modules with DFD and Activity Diagram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752600"/>
            <a:ext cx="6872164" cy="4267200"/>
          </a:xfrm>
        </p:spPr>
        <p:txBody>
          <a:bodyPr/>
          <a:lstStyle/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User Login/Registration: User securely logs in or registers to access the system.  </a:t>
            </a: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Transaction Initiation: User enters purchase details, triggering receipt generation.  </a:t>
            </a: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&amp; Storage: Backend (Node.js, Express.js) processes and stores data in MongoDB.  </a:t>
            </a: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Receipt Generation: Digital receipt is generated and displayed via React frontend for the user.  </a:t>
            </a: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46BE57-D76D-BCC6-421D-199FED93C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754" y="1705353"/>
            <a:ext cx="3503663" cy="43616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Results of Module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10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37FD50-DBF1-7C72-D6C9-93A0596DE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23" y="1843451"/>
            <a:ext cx="4299922" cy="19786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7CEF79-DFA9-E160-8F10-669AACB8B2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24" y="4214571"/>
            <a:ext cx="3782128" cy="17876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8725B49-5B03-E270-26EC-5C2F69CB54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981" y="1752830"/>
            <a:ext cx="2741071" cy="23097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E14905-7098-87B7-B9B0-966113B9AD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852" y="4200176"/>
            <a:ext cx="4086495" cy="17942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18DEA29-4857-B97C-5FCF-0F7FB093B1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592" y="1752830"/>
            <a:ext cx="4171469" cy="21974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81A20DC-8217-BBB7-B7C6-BC53640E84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347" y="4206405"/>
            <a:ext cx="3612176" cy="191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Conclusion &amp; Future Work 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752600"/>
            <a:ext cx="7005026" cy="42672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 Integration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Automate receipt generation by integrating with PayPal, Stripe, 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Multi-Currency Support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Support multiple currencies with automatic conversion based on user location.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Analytics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Provide advanced analytics with trends and machine learning for predictive insights.</a:t>
            </a:r>
          </a:p>
          <a:p>
            <a:pPr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11</a:t>
            </a:fld>
            <a:endParaRPr lang="en-IN"/>
          </a:p>
        </p:txBody>
      </p:sp>
      <p:pic>
        <p:nvPicPr>
          <p:cNvPr id="7" name="Picture 6" descr="Output image">
            <a:extLst>
              <a:ext uri="{FF2B5EF4-FFF2-40B4-BE49-F238E27FC236}">
                <a16:creationId xmlns:a16="http://schemas.microsoft.com/office/drawing/2014/main" id="{E7A8B419-6F3A-C628-CD3A-4C40E0EB1A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908" y="1746251"/>
            <a:ext cx="3501292" cy="22474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9166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References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algn="just" rtl="0">
              <a:spcBef>
                <a:spcPts val="1100"/>
              </a:spcBef>
              <a:buNone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 [1</a:t>
            </a:r>
            <a:r>
              <a:rPr lang="en-IN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IN" sz="1800" i="0" u="none" strike="noStrike" dirty="0">
                <a:solidFill>
                  <a:srgbClr val="33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R. Vatsa </a:t>
            </a:r>
            <a:r>
              <a:rPr lang="en-IN" sz="1800" i="1" u="none" strike="noStrike" dirty="0">
                <a:solidFill>
                  <a:srgbClr val="33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 al.</a:t>
            </a:r>
            <a:r>
              <a:rPr lang="en-IN" sz="1800" i="0" u="none" strike="noStrike" dirty="0">
                <a:solidFill>
                  <a:srgbClr val="33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“Impact evaluation of a digital health platform empowering Kenyan women across the pregnancy-postpartum care continuum: A cluster randomized controlled trial,” </a:t>
            </a:r>
            <a:r>
              <a:rPr lang="en-IN" sz="1800" i="1" u="none" strike="noStrike" dirty="0" err="1">
                <a:solidFill>
                  <a:srgbClr val="33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PLoS</a:t>
            </a:r>
            <a:r>
              <a:rPr lang="en-IN" sz="1800" i="1" u="none" strike="noStrike" dirty="0">
                <a:solidFill>
                  <a:srgbClr val="33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Med</a:t>
            </a:r>
            <a:r>
              <a:rPr lang="en-IN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vol. 22, no. 2, p. e1004527, Feb. 2025.</a:t>
            </a:r>
            <a:endParaRPr lang="en-IN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algn="just" rtl="0">
              <a:buNone/>
            </a:pPr>
            <a:r>
              <a:rPr lang="en-IN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[2] </a:t>
            </a:r>
            <a:r>
              <a:rPr lang="en-IN" sz="1800" i="0" u="none" strike="noStrike" dirty="0">
                <a:solidFill>
                  <a:srgbClr val="33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C. Gray, C. Santos, N. </a:t>
            </a:r>
            <a:r>
              <a:rPr lang="en-IN" sz="1800" i="0" u="none" strike="noStrike" dirty="0" err="1">
                <a:solidFill>
                  <a:srgbClr val="33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Bielova</a:t>
            </a:r>
            <a:r>
              <a:rPr lang="en-IN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and D. Clifford, “Dark Patterns and the Legal Requirements of Consent Banners: An Interaction Criticism Perspective,” Feb. 2021, Available: </a:t>
            </a:r>
            <a:r>
              <a:rPr lang="en-IN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https://papers.ssrn.com/abstract=3780377</a:t>
            </a:r>
            <a:r>
              <a:rPr lang="en-IN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 [Accessed: Apr. 22, 2025]</a:t>
            </a:r>
            <a:endParaRPr lang="en-IN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algn="just" rtl="0">
              <a:buNone/>
            </a:pPr>
            <a:b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IN" sz="1800" i="0" u="none" strike="noStrike" dirty="0">
                <a:solidFill>
                  <a:srgbClr val="33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C. Santos, N. </a:t>
            </a:r>
            <a:r>
              <a:rPr lang="en-IN" sz="1800" i="0" u="none" strike="noStrike" dirty="0" err="1">
                <a:solidFill>
                  <a:srgbClr val="33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Bielova</a:t>
            </a:r>
            <a:r>
              <a:rPr lang="en-IN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and C. Matte, “Are Cookie Banners Indeed Compliant With the Law? Deciphering EU Legal Requirements on Consent and Technical Means to Verify Compliance of Cookie Banners,” Aug. 2020, Available: </a:t>
            </a:r>
            <a:r>
              <a:rPr lang="en-IN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https://papers.ssrn.com/abstract=4206054</a:t>
            </a:r>
            <a:r>
              <a:rPr lang="en-IN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 [Accessed: Apr. 22, 2025]</a:t>
            </a:r>
            <a:endParaRPr lang="en-IN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algn="just" rtl="0">
              <a:spcAft>
                <a:spcPts val="1100"/>
              </a:spcAft>
              <a:buNone/>
            </a:pPr>
            <a:br>
              <a:rPr lang="en-I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IN" sz="1800" i="0" u="none" strike="noStrike" dirty="0">
                <a:solidFill>
                  <a:srgbClr val="33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C. Matte, N. </a:t>
            </a:r>
            <a:r>
              <a:rPr lang="en-IN" sz="1800" i="0" u="none" strike="noStrike" dirty="0" err="1">
                <a:solidFill>
                  <a:srgbClr val="33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Bielova</a:t>
            </a:r>
            <a:r>
              <a:rPr lang="en-IN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and C. Santos, “Do Cookie Banners Respect my Choice? Measuring Legal Compliance of Banners from IAB Europe’s Transparency and Consent Framework,” Nov. 22, 2019. Available: </a:t>
            </a:r>
            <a:r>
              <a:rPr lang="en-IN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http://arxiv.org/abs/1911.09964</a:t>
            </a:r>
            <a:r>
              <a:rPr lang="en-IN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 [Accessed: Apr. 22, 2025]</a:t>
            </a:r>
            <a:endParaRPr lang="en-IN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IN" sz="1600" dirty="0"/>
            </a:b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Paper Publication Status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Yet to Publish</a:t>
            </a: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8CC27A-14F7-85DD-1D33-35BB88464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938</Words>
  <Application>Microsoft Office PowerPoint</Application>
  <PresentationFormat>Widescreen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Times New Roman</vt:lpstr>
      <vt:lpstr>Verdana</vt:lpstr>
      <vt:lpstr>Wingdings</vt:lpstr>
      <vt:lpstr>Profile</vt:lpstr>
      <vt:lpstr>PowerPoint Presentation</vt:lpstr>
      <vt:lpstr>Problem Statement</vt:lpstr>
      <vt:lpstr>Existing System</vt:lpstr>
      <vt:lpstr>Objectives</vt:lpstr>
      <vt:lpstr>Abstract</vt:lpstr>
      <vt:lpstr>Proposed System</vt:lpstr>
      <vt:lpstr>System Architecture</vt:lpstr>
      <vt:lpstr>List of Framework</vt:lpstr>
      <vt:lpstr>Functional Description for each modules with DFD and Activity Diagram</vt:lpstr>
      <vt:lpstr>Results of Module</vt:lpstr>
      <vt:lpstr>Conclusion &amp; Future Work </vt:lpstr>
      <vt:lpstr>References</vt:lpstr>
      <vt:lpstr>Paper Publication Status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DURAI MURUGAN N</dc:creator>
  <cp:lastModifiedBy>Bhavanishraj Rajakumaran</cp:lastModifiedBy>
  <cp:revision>6</cp:revision>
  <dcterms:created xsi:type="dcterms:W3CDTF">2023-08-03T04:32:32Z</dcterms:created>
  <dcterms:modified xsi:type="dcterms:W3CDTF">2025-05-13T13:19:51Z</dcterms:modified>
</cp:coreProperties>
</file>